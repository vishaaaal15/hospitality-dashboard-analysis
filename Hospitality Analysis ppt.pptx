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65" r:id="rId3"/>
    <p:sldId id="264" r:id="rId4"/>
    <p:sldId id="267" r:id="rId5"/>
    <p:sldId id="272" r:id="rId6"/>
    <p:sldId id="270" r:id="rId7"/>
    <p:sldId id="268" r:id="rId8"/>
    <p:sldId id="271" r:id="rId9"/>
    <p:sldId id="276" r:id="rId10"/>
    <p:sldId id="269" r:id="rId11"/>
    <p:sldId id="266" r:id="rId12"/>
    <p:sldId id="275" r:id="rId13"/>
    <p:sldId id="273" r:id="rId14"/>
    <p:sldId id="277" r:id="rId15"/>
    <p:sldId id="278" r:id="rId16"/>
    <p:sldId id="279" r:id="rId17"/>
    <p:sldId id="274" r:id="rId18"/>
    <p:sldId id="280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1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+mn-lt"/>
              </a:rPr>
              <a:t>Hospitality Dashboard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494338" y="2751138"/>
            <a:ext cx="3649662" cy="3000375"/>
          </a:xfrm>
        </p:spPr>
        <p:txBody>
          <a:bodyPr>
            <a:normAutofit/>
          </a:bodyPr>
          <a:lstStyle/>
          <a:p>
            <a:pPr marL="36576" indent="0">
              <a:buNone/>
            </a:pPr>
            <a:r>
              <a:rPr lang="en-GB" sz="2000" b="1" dirty="0"/>
              <a:t>Group members</a:t>
            </a:r>
          </a:p>
          <a:p>
            <a:pPr marL="36576" indent="0">
              <a:buNone/>
            </a:pPr>
            <a:r>
              <a:rPr lang="en-GB" sz="2000" dirty="0"/>
              <a:t>Rahul Deepak </a:t>
            </a:r>
            <a:r>
              <a:rPr lang="en-GB" sz="2000" dirty="0" err="1"/>
              <a:t>Kadu</a:t>
            </a:r>
            <a:endParaRPr lang="en-GB" sz="2000" dirty="0"/>
          </a:p>
          <a:p>
            <a:pPr marL="36576" indent="0">
              <a:buNone/>
            </a:pPr>
            <a:r>
              <a:rPr lang="en-GB" sz="2000" dirty="0" err="1"/>
              <a:t>Vishakha</a:t>
            </a:r>
            <a:r>
              <a:rPr lang="en-GB" sz="2000" dirty="0"/>
              <a:t> </a:t>
            </a:r>
            <a:r>
              <a:rPr lang="en-GB" sz="2000" dirty="0" err="1"/>
              <a:t>Priya</a:t>
            </a:r>
            <a:endParaRPr lang="en-GB" sz="2000" dirty="0"/>
          </a:p>
          <a:p>
            <a:pPr marL="36576" indent="0">
              <a:buNone/>
            </a:pPr>
            <a:r>
              <a:rPr lang="en-GB" sz="2000" dirty="0"/>
              <a:t>Vishal </a:t>
            </a:r>
            <a:r>
              <a:rPr lang="en-GB" sz="2000" dirty="0" err="1"/>
              <a:t>Radheshyam</a:t>
            </a:r>
            <a:r>
              <a:rPr lang="en-GB" sz="2000" dirty="0"/>
              <a:t> Singh</a:t>
            </a:r>
          </a:p>
          <a:p>
            <a:pPr marL="36576" indent="0">
              <a:buNone/>
            </a:pPr>
            <a:r>
              <a:rPr lang="en-GB" sz="2000" dirty="0" err="1"/>
              <a:t>Dudi</a:t>
            </a:r>
            <a:r>
              <a:rPr lang="en-GB" sz="2000" dirty="0"/>
              <a:t> </a:t>
            </a:r>
            <a:r>
              <a:rPr lang="en-GB" sz="2000" dirty="0" err="1"/>
              <a:t>Mounisha</a:t>
            </a:r>
            <a:endParaRPr lang="en-GB" sz="2000" dirty="0"/>
          </a:p>
          <a:p>
            <a:pPr marL="36576" indent="0">
              <a:buNone/>
            </a:pPr>
            <a:r>
              <a:rPr lang="en-GB" sz="2000" dirty="0" err="1"/>
              <a:t>Ansh</a:t>
            </a:r>
            <a:r>
              <a:rPr lang="en-GB" sz="2000" dirty="0"/>
              <a:t> </a:t>
            </a:r>
            <a:r>
              <a:rPr lang="en-GB" sz="2000" dirty="0" err="1"/>
              <a:t>Balu</a:t>
            </a:r>
            <a:r>
              <a:rPr lang="en-GB" sz="2000" dirty="0"/>
              <a:t> </a:t>
            </a:r>
            <a:r>
              <a:rPr lang="en-GB" sz="2000" dirty="0" err="1"/>
              <a:t>Bachhe</a:t>
            </a:r>
            <a:endParaRPr lang="en-GB" sz="2000" dirty="0"/>
          </a:p>
          <a:p>
            <a:pPr marL="36576" indent="0">
              <a:buNone/>
            </a:pPr>
            <a:r>
              <a:rPr lang="en-GB" sz="2000" dirty="0"/>
              <a:t>Suma K T</a:t>
            </a:r>
            <a:endParaRPr sz="2000" dirty="0"/>
          </a:p>
        </p:txBody>
      </p:sp>
      <p:sp>
        <p:nvSpPr>
          <p:cNvPr id="4" name="Rectangle 3"/>
          <p:cNvSpPr/>
          <p:nvPr/>
        </p:nvSpPr>
        <p:spPr>
          <a:xfrm>
            <a:off x="1021223" y="2931451"/>
            <a:ext cx="19441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/>
              <a:t>Group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/>
              <a:t>Agenda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74052" cy="4525963"/>
          </a:xfrm>
        </p:spPr>
        <p:txBody>
          <a:bodyPr>
            <a:normAutofit/>
          </a:bodyPr>
          <a:lstStyle/>
          <a:p>
            <a:r>
              <a:rPr lang="en-GB" sz="2400" b="1" dirty="0"/>
              <a:t>Introduction</a:t>
            </a:r>
            <a:endParaRPr lang="en-GB" sz="2400" dirty="0"/>
          </a:p>
          <a:p>
            <a:r>
              <a:rPr lang="en-GB" sz="2400" b="1" dirty="0"/>
              <a:t>Key Performance Metrics</a:t>
            </a:r>
            <a:endParaRPr lang="en-GB" sz="2400" dirty="0"/>
          </a:p>
          <a:p>
            <a:r>
              <a:rPr lang="en-GB" sz="2400" b="1" dirty="0"/>
              <a:t>City-wise Performance</a:t>
            </a:r>
            <a:endParaRPr lang="en-GB" sz="2400" dirty="0"/>
          </a:p>
          <a:p>
            <a:r>
              <a:rPr lang="en-GB" sz="2400" b="1" dirty="0"/>
              <a:t>Hotel-wise Performance</a:t>
            </a:r>
            <a:endParaRPr lang="en-GB" sz="2400" dirty="0"/>
          </a:p>
          <a:p>
            <a:r>
              <a:rPr lang="en-GB" sz="2400" b="1" dirty="0"/>
              <a:t>Customer &amp; Booking </a:t>
            </a:r>
            <a:r>
              <a:rPr lang="en-GB" sz="2400" b="1" dirty="0" err="1"/>
              <a:t>Behavior</a:t>
            </a:r>
            <a:endParaRPr lang="en-GB" sz="2400" dirty="0"/>
          </a:p>
          <a:p>
            <a:r>
              <a:rPr lang="en-GB" sz="2400" b="1" dirty="0"/>
              <a:t>Capacity &amp; Utilization Analysis</a:t>
            </a:r>
            <a:endParaRPr lang="en-GB" sz="2400" dirty="0"/>
          </a:p>
          <a:p>
            <a:r>
              <a:rPr lang="en-GB" sz="2400" b="1" dirty="0"/>
              <a:t>Trend Analysis</a:t>
            </a:r>
            <a:endParaRPr lang="en-GB" sz="2400" dirty="0"/>
          </a:p>
          <a:p>
            <a:r>
              <a:rPr lang="en-GB" sz="2400" b="1" dirty="0"/>
              <a:t>Insights &amp; Findings</a:t>
            </a:r>
            <a:endParaRPr lang="en-GB" sz="2400" dirty="0"/>
          </a:p>
          <a:p>
            <a:r>
              <a:rPr lang="en-GB" sz="2400" b="1" dirty="0"/>
              <a:t>Conclusion</a:t>
            </a:r>
            <a:endParaRPr lang="en-GB" sz="2400" dirty="0"/>
          </a:p>
          <a:p>
            <a:pPr marL="448056" lvl="1" indent="0">
              <a:buNone/>
            </a:pPr>
            <a:endParaRPr lang="en-GB" dirty="0"/>
          </a:p>
          <a:p>
            <a:pPr>
              <a:buFont typeface="Arial" pitchFamily="34" charset="0"/>
              <a:buChar char="•"/>
            </a:pP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8657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/>
              <a:t>Introduction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404789" cy="4525963"/>
          </a:xfrm>
        </p:spPr>
        <p:txBody>
          <a:bodyPr>
            <a:normAutofit/>
          </a:bodyPr>
          <a:lstStyle/>
          <a:p>
            <a:r>
              <a:rPr lang="en-GB" sz="2000" dirty="0"/>
              <a:t>It brings together critical insights such as total bookings, revenue generation, occupancy percentage, cancellation trends, class-wise contribution, hotel-wise performance, and city-level demand </a:t>
            </a:r>
            <a:r>
              <a:rPr lang="en-GB" sz="2000" dirty="0" err="1"/>
              <a:t>behavior</a:t>
            </a:r>
            <a:r>
              <a:rPr lang="en-GB" sz="2000" dirty="0"/>
              <a:t>. </a:t>
            </a:r>
          </a:p>
          <a:p>
            <a:r>
              <a:rPr lang="en-GB" sz="2000" dirty="0"/>
              <a:t>By visualizing these metrics in an interactive format, the dashboard helps identify strengths, weaknesses, and opportunities within the hospitality operations.</a:t>
            </a:r>
          </a:p>
          <a:p>
            <a:r>
              <a:rPr lang="en-GB" sz="2000" dirty="0"/>
              <a:t>It helps identify trends, understand customer </a:t>
            </a:r>
            <a:r>
              <a:rPr lang="en-GB" sz="2000" dirty="0" err="1"/>
              <a:t>behavior</a:t>
            </a:r>
            <a:r>
              <a:rPr lang="en-GB" sz="2000" dirty="0"/>
              <a:t>, evaluate city and class-level revenue, and measure overall capacity utilization. </a:t>
            </a:r>
          </a:p>
          <a:p>
            <a:r>
              <a:rPr lang="en-GB" sz="2000" dirty="0"/>
              <a:t>The insights support better decision-making in pricing, operations, and revenue management.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70459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191" y="-17344"/>
            <a:ext cx="8626979" cy="1143000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latin typeface="Arial" charset="0"/>
                <a:cs typeface="Arial" charset="0"/>
              </a:rPr>
              <a:t>City-Wise Revenue Performance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6037450"/>
              </p:ext>
            </p:extLst>
          </p:nvPr>
        </p:nvGraphicFramePr>
        <p:xfrm>
          <a:off x="222191" y="1177896"/>
          <a:ext cx="5819688" cy="3202410"/>
        </p:xfrm>
        <a:graphic>
          <a:graphicData uri="http://schemas.openxmlformats.org/drawingml/2006/table">
            <a:tbl>
              <a:tblPr/>
              <a:tblGrid>
                <a:gridCol w="1939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9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9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213">
                <a:tc>
                  <a:txBody>
                    <a:bodyPr/>
                    <a:lstStyle/>
                    <a:p>
                      <a:r>
                        <a:rPr lang="en-IN" dirty="0"/>
                        <a:t>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Revenue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Insights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190">
                <a:tc>
                  <a:txBody>
                    <a:bodyPr/>
                    <a:lstStyle/>
                    <a:p>
                      <a:r>
                        <a:rPr lang="en-IN" b="1" dirty="0"/>
                        <a:t>Mumbai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₹668.6M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Highest demand, major market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2190">
                <a:tc>
                  <a:txBody>
                    <a:bodyPr/>
                    <a:lstStyle/>
                    <a:p>
                      <a:r>
                        <a:rPr lang="en-IN" b="1" dirty="0"/>
                        <a:t>Bangalore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₹420.4M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Strong corporate + leisure mix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533">
                <a:tc>
                  <a:txBody>
                    <a:bodyPr/>
                    <a:lstStyle/>
                    <a:p>
                      <a:r>
                        <a:rPr lang="en-IN" b="1"/>
                        <a:t>Hyderabad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₹325.2M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Moderate performing 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2190">
                <a:tc>
                  <a:txBody>
                    <a:bodyPr/>
                    <a:lstStyle/>
                    <a:p>
                      <a:r>
                        <a:rPr lang="en-IN" b="1" dirty="0"/>
                        <a:t>Delhi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₹294.5M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Underperforming for a metro 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16194" y="4393013"/>
            <a:ext cx="792195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Key Insights:</a:t>
            </a:r>
          </a:p>
          <a:p>
            <a:r>
              <a:rPr lang="en-GB" b="1" dirty="0"/>
              <a:t>Mumbai alone contributes almost 40%+</a:t>
            </a:r>
            <a:r>
              <a:rPr lang="en-GB" dirty="0"/>
              <a:t> of total city revenue.</a:t>
            </a:r>
          </a:p>
          <a:p>
            <a:r>
              <a:rPr lang="en-GB" dirty="0"/>
              <a:t>Delhi’s lower revenue indicates: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GB" dirty="0"/>
              <a:t>Pricing issues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GB" dirty="0"/>
              <a:t>Seasonality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GB" dirty="0"/>
              <a:t>Weak brand presence.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243" y="1357461"/>
            <a:ext cx="2871387" cy="2359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6906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Trend Analysis (Monthly Revenue KPIs)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36576" indent="0">
              <a:buNone/>
            </a:pPr>
            <a:r>
              <a:rPr lang="en-GB" dirty="0"/>
              <a:t>Months: </a:t>
            </a:r>
            <a:r>
              <a:rPr lang="en-GB" b="1" dirty="0"/>
              <a:t>May, June, July</a:t>
            </a:r>
            <a:endParaRPr lang="en-GB" dirty="0"/>
          </a:p>
          <a:p>
            <a:pPr marL="36576" indent="0">
              <a:buNone/>
            </a:pPr>
            <a:r>
              <a:rPr lang="en-GB" b="1" dirty="0"/>
              <a:t>Metrics:</a:t>
            </a:r>
          </a:p>
          <a:p>
            <a:r>
              <a:rPr lang="en-GB" dirty="0" err="1"/>
              <a:t>RevPAR</a:t>
            </a:r>
            <a:endParaRPr lang="en-GB" dirty="0"/>
          </a:p>
          <a:p>
            <a:r>
              <a:rPr lang="en-GB" dirty="0"/>
              <a:t>ADR</a:t>
            </a:r>
          </a:p>
          <a:p>
            <a:r>
              <a:rPr lang="en-GB" dirty="0"/>
              <a:t>Occupancy %</a:t>
            </a:r>
          </a:p>
          <a:p>
            <a:pPr marL="36576" indent="0">
              <a:buNone/>
            </a:pPr>
            <a:r>
              <a:rPr lang="en-GB" b="1" dirty="0"/>
              <a:t>Findings:</a:t>
            </a:r>
          </a:p>
          <a:p>
            <a:r>
              <a:rPr lang="en-GB" b="1" dirty="0"/>
              <a:t>May is the peak month</a:t>
            </a:r>
            <a:r>
              <a:rPr lang="en-GB" dirty="0"/>
              <a:t> in all metrics.</a:t>
            </a:r>
          </a:p>
          <a:p>
            <a:r>
              <a:rPr lang="en-GB" b="1" dirty="0"/>
              <a:t>June shows dip</a:t>
            </a:r>
            <a:r>
              <a:rPr lang="en-GB" dirty="0"/>
              <a:t> (seasonal impact).</a:t>
            </a:r>
          </a:p>
          <a:p>
            <a:r>
              <a:rPr lang="en-GB" b="1" dirty="0"/>
              <a:t>July recovers slightly.</a:t>
            </a:r>
            <a:endParaRPr lang="en-GB" dirty="0"/>
          </a:p>
          <a:p>
            <a:pPr marL="36576" indent="0">
              <a:buNone/>
            </a:pPr>
            <a:r>
              <a:rPr lang="en-GB" b="1" dirty="0"/>
              <a:t>Key Insight:</a:t>
            </a:r>
          </a:p>
          <a:p>
            <a:r>
              <a:rPr lang="en-GB" dirty="0"/>
              <a:t>Strong seasonality is observed.</a:t>
            </a:r>
          </a:p>
          <a:p>
            <a:r>
              <a:rPr lang="en-GB" dirty="0"/>
              <a:t>May–June–July cycle reflects:</a:t>
            </a:r>
          </a:p>
          <a:p>
            <a:pPr lvl="1"/>
            <a:r>
              <a:rPr lang="en-GB" dirty="0"/>
              <a:t>holiday tourism behaviour,</a:t>
            </a:r>
          </a:p>
          <a:p>
            <a:pPr lvl="1"/>
            <a:r>
              <a:rPr lang="en-GB" dirty="0"/>
              <a:t>monsoon impact,</a:t>
            </a:r>
          </a:p>
          <a:p>
            <a:pPr lvl="1"/>
            <a:r>
              <a:rPr lang="en-GB" dirty="0"/>
              <a:t>business travel fluctuations.</a:t>
            </a:r>
          </a:p>
          <a:p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0544" y="1246723"/>
            <a:ext cx="3254375" cy="288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3063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Day Type Revenue (Weekend </a:t>
            </a:r>
            <a:r>
              <a:rPr lang="en-GB" b="1" dirty="0" err="1"/>
              <a:t>vs</a:t>
            </a:r>
            <a:r>
              <a:rPr lang="en-GB" b="1" dirty="0"/>
              <a:t> Weekday)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6576" indent="0">
              <a:buNone/>
            </a:pPr>
            <a:r>
              <a:rPr lang="en-GB" dirty="0"/>
              <a:t>Weekend: </a:t>
            </a:r>
            <a:r>
              <a:rPr lang="en-GB" b="1" dirty="0"/>
              <a:t>37%</a:t>
            </a:r>
            <a:br>
              <a:rPr lang="en-GB" dirty="0"/>
            </a:br>
            <a:r>
              <a:rPr lang="en-GB" dirty="0"/>
              <a:t>Weekday: </a:t>
            </a:r>
            <a:r>
              <a:rPr lang="en-GB" b="1" dirty="0"/>
              <a:t>63%</a:t>
            </a:r>
            <a:endParaRPr lang="en-GB" dirty="0"/>
          </a:p>
          <a:p>
            <a:pPr marL="36576" indent="0">
              <a:buNone/>
            </a:pPr>
            <a:r>
              <a:rPr lang="en-GB" b="1" dirty="0"/>
              <a:t>Insight:</a:t>
            </a:r>
          </a:p>
          <a:p>
            <a:r>
              <a:rPr lang="en-GB" b="1" dirty="0"/>
              <a:t>Weekday demand is stronger</a:t>
            </a:r>
            <a:r>
              <a:rPr lang="en-GB" dirty="0"/>
              <a:t> due to business + corporate </a:t>
            </a:r>
            <a:r>
              <a:rPr lang="en-GB" dirty="0" err="1"/>
              <a:t>travelers</a:t>
            </a:r>
            <a:r>
              <a:rPr lang="en-GB" dirty="0"/>
              <a:t>.</a:t>
            </a:r>
          </a:p>
          <a:p>
            <a:r>
              <a:rPr lang="en-GB" dirty="0"/>
              <a:t>Weekend demand is still good but needs:</a:t>
            </a:r>
          </a:p>
          <a:p>
            <a:pPr lvl="1"/>
            <a:r>
              <a:rPr lang="en-GB" dirty="0"/>
              <a:t>holiday packages,</a:t>
            </a:r>
          </a:p>
          <a:p>
            <a:pPr lvl="1"/>
            <a:r>
              <a:rPr lang="en-GB" dirty="0"/>
              <a:t>leisure offers,</a:t>
            </a:r>
          </a:p>
          <a:p>
            <a:pPr lvl="1"/>
            <a:r>
              <a:rPr lang="en-GB" dirty="0"/>
              <a:t>discounts for families.</a:t>
            </a:r>
          </a:p>
          <a:p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056" y="799670"/>
            <a:ext cx="2401368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2587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sz="4800" b="1" dirty="0">
                <a:latin typeface="Arial" charset="0"/>
                <a:cs typeface="Arial" charset="0"/>
              </a:rPr>
              <a:t>Hotel-Wise Revenue</a:t>
            </a:r>
            <a:br>
              <a:rPr lang="en-US" sz="4800" b="1" dirty="0">
                <a:latin typeface="Arial" charset="0"/>
                <a:cs typeface="Arial" charset="0"/>
              </a:rPr>
            </a:b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3643871"/>
              </p:ext>
            </p:extLst>
          </p:nvPr>
        </p:nvGraphicFramePr>
        <p:xfrm>
          <a:off x="641931" y="1075254"/>
          <a:ext cx="4724828" cy="3200400"/>
        </p:xfrm>
        <a:graphic>
          <a:graphicData uri="http://schemas.openxmlformats.org/drawingml/2006/table">
            <a:tbl>
              <a:tblPr/>
              <a:tblGrid>
                <a:gridCol w="1665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Hotel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Revenue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Insight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Atliq Exotica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₹320.3M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Top performer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Atliq Palace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₹304.1M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Atliq 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₹285.8M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Atliq Blu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₹260.9M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Atliq Bay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₹260.1M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Atliq Grands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₹211.5M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Atliq Seasons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₹66.1M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Serious under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4004" y="4275652"/>
            <a:ext cx="90499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Insights:</a:t>
            </a:r>
          </a:p>
          <a:p>
            <a:r>
              <a:rPr lang="en-GB" b="1" dirty="0" err="1"/>
              <a:t>Atliq</a:t>
            </a:r>
            <a:r>
              <a:rPr lang="en-GB" b="1" dirty="0"/>
              <a:t> Exotica leads the chain</a:t>
            </a:r>
            <a:r>
              <a:rPr lang="en-GB" dirty="0"/>
              <a:t>—strong demand for premium-category properties.</a:t>
            </a:r>
          </a:p>
          <a:p>
            <a:r>
              <a:rPr lang="en-GB" b="1" dirty="0" err="1"/>
              <a:t>Atliq</a:t>
            </a:r>
            <a:r>
              <a:rPr lang="en-GB" b="1" dirty="0"/>
              <a:t> Seasons is extremely low</a:t>
            </a:r>
            <a:r>
              <a:rPr lang="en-GB" dirty="0"/>
              <a:t>, indicating: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GB" dirty="0"/>
              <a:t>Location issues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GB" dirty="0"/>
              <a:t>Customer dissatisfaction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GB" dirty="0" err="1"/>
              <a:t>Outdated</a:t>
            </a:r>
            <a:r>
              <a:rPr lang="en-GB" dirty="0"/>
              <a:t> rooms or service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GB" dirty="0"/>
              <a:t>Wrong pricing strategy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321" y="1060180"/>
            <a:ext cx="3136558" cy="2853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4590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sz="4800" b="1" dirty="0">
                <a:latin typeface="Arial" charset="0"/>
                <a:cs typeface="Arial" charset="0"/>
              </a:rPr>
              <a:t>Class-Wise Revenue Distribution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7113785"/>
              </p:ext>
            </p:extLst>
          </p:nvPr>
        </p:nvGraphicFramePr>
        <p:xfrm>
          <a:off x="346104" y="1567300"/>
          <a:ext cx="5473582" cy="2947779"/>
        </p:xfrm>
        <a:graphic>
          <a:graphicData uri="http://schemas.openxmlformats.org/drawingml/2006/table">
            <a:tbl>
              <a:tblPr/>
              <a:tblGrid>
                <a:gridCol w="1499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90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467">
                <a:tc>
                  <a:txBody>
                    <a:bodyPr/>
                    <a:lstStyle/>
                    <a:p>
                      <a:r>
                        <a:rPr lang="en-IN" dirty="0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Share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Insight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167">
                <a:tc>
                  <a:txBody>
                    <a:bodyPr/>
                    <a:lstStyle/>
                    <a:p>
                      <a:r>
                        <a:rPr lang="en-IN" b="1" dirty="0"/>
                        <a:t>Elite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Highest revenue → premium beds sell well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817">
                <a:tc>
                  <a:txBody>
                    <a:bodyPr/>
                    <a:lstStyle/>
                    <a:p>
                      <a:r>
                        <a:rPr lang="en-IN" b="1" dirty="0"/>
                        <a:t>Premium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Strong mid-tier demand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817">
                <a:tc>
                  <a:txBody>
                    <a:bodyPr/>
                    <a:lstStyle/>
                    <a:p>
                      <a:r>
                        <a:rPr lang="en-IN" b="1" dirty="0"/>
                        <a:t>Presidential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Luxury customers present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218">
                <a:tc>
                  <a:txBody>
                    <a:bodyPr/>
                    <a:lstStyle/>
                    <a:p>
                      <a:r>
                        <a:rPr lang="en-IN" b="1" dirty="0"/>
                        <a:t>Standard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Lower performance compared to premium tiers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628983"/>
            <a:ext cx="83919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Key Insights: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/>
              <a:t>Revenue is </a:t>
            </a:r>
            <a:r>
              <a:rPr lang="en-GB" b="1" dirty="0"/>
              <a:t>more from high-end categories</a:t>
            </a:r>
            <a:r>
              <a:rPr lang="en-GB" dirty="0"/>
              <a:t>, which is excellent.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/>
              <a:t>Shows brand is positioned well for premium customers.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/>
              <a:t>Standard rooms need repositioning or bundling.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510" y="1567300"/>
            <a:ext cx="2962333" cy="200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3305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1550"/>
            <a:ext cx="7467600" cy="11430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Utilize Capacity (Room Category Analysis)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687084" cy="4525963"/>
          </a:xfrm>
        </p:spPr>
        <p:txBody>
          <a:bodyPr>
            <a:normAutofit fontScale="62500" lnSpcReduction="20000"/>
          </a:bodyPr>
          <a:lstStyle/>
          <a:p>
            <a:pPr marL="36576" indent="0">
              <a:buNone/>
            </a:pPr>
            <a:r>
              <a:rPr lang="en-IN" dirty="0"/>
              <a:t>Room Categories: RT1, RT2, RT3, RT4</a:t>
            </a:r>
          </a:p>
          <a:p>
            <a:pPr marL="36576" indent="0">
              <a:buNone/>
            </a:pPr>
            <a:r>
              <a:rPr lang="en-IN" b="1" dirty="0"/>
              <a:t>Metrics included:</a:t>
            </a:r>
          </a:p>
          <a:p>
            <a:r>
              <a:rPr lang="en-IN" dirty="0"/>
              <a:t>✔ Total Capacity</a:t>
            </a:r>
            <a:br>
              <a:rPr lang="en-IN" dirty="0"/>
            </a:br>
            <a:r>
              <a:rPr lang="en-IN" dirty="0"/>
              <a:t>✔ Successful Bookings</a:t>
            </a:r>
            <a:br>
              <a:rPr lang="en-IN" dirty="0"/>
            </a:br>
            <a:r>
              <a:rPr lang="en-IN" dirty="0"/>
              <a:t>✔ Utilization %</a:t>
            </a:r>
          </a:p>
          <a:p>
            <a:pPr marL="36576" indent="0">
              <a:buNone/>
            </a:pPr>
            <a:r>
              <a:rPr lang="en-IN" b="1" dirty="0"/>
              <a:t>Observations:</a:t>
            </a:r>
          </a:p>
          <a:p>
            <a:r>
              <a:rPr lang="en-IN" b="1" dirty="0"/>
              <a:t>RT1 → highest booking volume</a:t>
            </a:r>
            <a:endParaRPr lang="en-IN" dirty="0"/>
          </a:p>
          <a:p>
            <a:r>
              <a:rPr lang="en-IN" b="1" dirty="0"/>
              <a:t>RT4 → highest occupancy %</a:t>
            </a:r>
            <a:endParaRPr lang="en-IN" dirty="0"/>
          </a:p>
          <a:p>
            <a:r>
              <a:rPr lang="en-IN" b="1" dirty="0"/>
              <a:t>RT3 → lowest performance</a:t>
            </a:r>
            <a:endParaRPr lang="en-IN" dirty="0"/>
          </a:p>
          <a:p>
            <a:pPr marL="36576" indent="0">
              <a:buNone/>
            </a:pPr>
            <a:r>
              <a:rPr lang="en-IN" b="1" dirty="0"/>
              <a:t>Key Insight:</a:t>
            </a:r>
          </a:p>
          <a:p>
            <a:r>
              <a:rPr lang="en-IN" dirty="0"/>
              <a:t>RT4 might be premium rooms with fewer units but higher demand.</a:t>
            </a:r>
          </a:p>
          <a:p>
            <a:r>
              <a:rPr lang="en-IN" dirty="0"/>
              <a:t>RT3 needs:</a:t>
            </a:r>
          </a:p>
          <a:p>
            <a:pPr lvl="1"/>
            <a:r>
              <a:rPr lang="en-IN" dirty="0"/>
              <a:t>better pricing,</a:t>
            </a:r>
          </a:p>
          <a:p>
            <a:pPr lvl="1"/>
            <a:r>
              <a:rPr lang="en-IN" dirty="0"/>
              <a:t>promotions,</a:t>
            </a:r>
          </a:p>
          <a:p>
            <a:pPr lvl="1"/>
            <a:r>
              <a:rPr lang="en-IN" dirty="0"/>
              <a:t>room refurbishments.</a:t>
            </a:r>
          </a:p>
          <a:p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0744" y="1110953"/>
            <a:ext cx="3896882" cy="2813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0000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sz="4800" b="1" dirty="0">
                <a:latin typeface="Arial" charset="0"/>
                <a:cs typeface="Arial" charset="0"/>
              </a:rPr>
              <a:t>Show Status (Guest Booking Outcome)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7305554"/>
              </p:ext>
            </p:extLst>
          </p:nvPr>
        </p:nvGraphicFramePr>
        <p:xfrm>
          <a:off x="371740" y="1536048"/>
          <a:ext cx="8225328" cy="1737360"/>
        </p:xfrm>
        <a:graphic>
          <a:graphicData uri="http://schemas.openxmlformats.org/drawingml/2006/table">
            <a:tbl>
              <a:tblPr/>
              <a:tblGrid>
                <a:gridCol w="2741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1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Percentage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Cancelled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24.83%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 loss of business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Checked Out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70.15%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Successful stays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No Show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5.02%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Rooms blocked but unsold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89133" y="3273777"/>
            <a:ext cx="48725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Key Insight:</a:t>
            </a:r>
          </a:p>
          <a:p>
            <a:r>
              <a:rPr lang="en-GB" b="1" dirty="0"/>
              <a:t>No-shows + cancellations = ~30% loss of potential revenue.</a:t>
            </a:r>
            <a:endParaRPr lang="en-GB" dirty="0"/>
          </a:p>
          <a:p>
            <a:r>
              <a:rPr lang="en-GB" dirty="0"/>
              <a:t>Implement: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GB" dirty="0"/>
              <a:t>Partial advance payments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GB" dirty="0"/>
              <a:t>Stricter cancellation windows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GB" dirty="0"/>
              <a:t>Reminder notifications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GB" dirty="0"/>
              <a:t>Flexible rebooking options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496" y="3591183"/>
            <a:ext cx="3269448" cy="2136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4316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018" y="222190"/>
            <a:ext cx="8165507" cy="1298961"/>
          </a:xfrm>
        </p:spPr>
        <p:txBody>
          <a:bodyPr>
            <a:normAutofit fontScale="90000"/>
          </a:bodyPr>
          <a:lstStyle/>
          <a:p>
            <a:r>
              <a:rPr lang="en-GB" sz="4000" b="1" dirty="0"/>
              <a:t>Top-Level KPIs (Business Performance Summary)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012" y="1521151"/>
            <a:ext cx="8404789" cy="4724653"/>
          </a:xfrm>
        </p:spPr>
        <p:txBody>
          <a:bodyPr>
            <a:noAutofit/>
          </a:bodyPr>
          <a:lstStyle/>
          <a:p>
            <a:pPr marL="36576" indent="0">
              <a:buNone/>
            </a:pPr>
            <a:r>
              <a:rPr lang="en-GB" sz="2400" b="1" dirty="0"/>
              <a:t>Total Bookings: 134,590</a:t>
            </a:r>
          </a:p>
          <a:p>
            <a:r>
              <a:rPr lang="en-GB" sz="2400" dirty="0"/>
              <a:t>Shows strong customer acquisition.</a:t>
            </a:r>
          </a:p>
          <a:p>
            <a:r>
              <a:rPr lang="en-GB" sz="2400" dirty="0"/>
              <a:t>High booking volume indicates good marketing, OTA visibility, and brand awareness.</a:t>
            </a:r>
          </a:p>
          <a:p>
            <a:r>
              <a:rPr lang="en-GB" sz="2400" dirty="0"/>
              <a:t>Important for demand forecasting and capacity planning.</a:t>
            </a:r>
          </a:p>
          <a:p>
            <a:pPr marL="36576" indent="0">
              <a:buNone/>
            </a:pPr>
            <a:r>
              <a:rPr lang="en-GB" sz="2400" b="1" dirty="0"/>
              <a:t>Total Revenue: ₹1,70,87,71,229 (~₹1.71 billion)</a:t>
            </a:r>
          </a:p>
          <a:p>
            <a:r>
              <a:rPr lang="en-GB" sz="2400" dirty="0"/>
              <a:t>Indicates strong financial performance.</a:t>
            </a:r>
          </a:p>
          <a:p>
            <a:r>
              <a:rPr lang="en-GB" sz="2400" dirty="0"/>
              <a:t>High revenue driven by:</a:t>
            </a:r>
          </a:p>
          <a:p>
            <a:pPr lvl="1"/>
            <a:r>
              <a:rPr lang="en-GB" sz="1800" dirty="0"/>
              <a:t>High ADR (Average Daily Rate)</a:t>
            </a:r>
          </a:p>
          <a:p>
            <a:pPr lvl="1"/>
            <a:r>
              <a:rPr lang="en-GB" sz="1800" dirty="0"/>
              <a:t>Large number of total bookings</a:t>
            </a:r>
          </a:p>
          <a:p>
            <a:pPr lvl="1"/>
            <a:r>
              <a:rPr lang="en-GB" sz="1800" dirty="0"/>
              <a:t>Premium class revenue share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385301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8971"/>
            <a:ext cx="127819" cy="237777"/>
          </a:xfrm>
        </p:spPr>
        <p:txBody>
          <a:bodyPr>
            <a:normAutofit fontScale="90000"/>
          </a:bodyPr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4598"/>
            <a:ext cx="8088594" cy="4801565"/>
          </a:xfrm>
        </p:spPr>
        <p:txBody>
          <a:bodyPr>
            <a:normAutofit fontScale="92500" lnSpcReduction="20000"/>
          </a:bodyPr>
          <a:lstStyle/>
          <a:p>
            <a:pPr marL="36576" indent="0">
              <a:buNone/>
            </a:pPr>
            <a:r>
              <a:rPr lang="en-GB" sz="2600" b="1" dirty="0"/>
              <a:t>Occupancy: 58%</a:t>
            </a:r>
          </a:p>
          <a:p>
            <a:r>
              <a:rPr lang="en-GB" sz="2600" dirty="0"/>
              <a:t>A moderate occupancy level.</a:t>
            </a:r>
          </a:p>
          <a:p>
            <a:r>
              <a:rPr lang="en-GB" sz="2600" dirty="0"/>
              <a:t>Indicates </a:t>
            </a:r>
            <a:r>
              <a:rPr lang="en-GB" sz="2600" b="1" dirty="0"/>
              <a:t>42% room inventory is unused</a:t>
            </a:r>
            <a:r>
              <a:rPr lang="en-GB" sz="2600" dirty="0"/>
              <a:t>, </a:t>
            </a:r>
            <a:r>
              <a:rPr lang="en-GB" sz="2600" dirty="0" err="1"/>
              <a:t>signaling</a:t>
            </a:r>
            <a:r>
              <a:rPr lang="en-GB" sz="2600" dirty="0"/>
              <a:t>:</a:t>
            </a:r>
          </a:p>
          <a:p>
            <a:pPr lvl="1"/>
            <a:r>
              <a:rPr lang="en-GB" sz="1900" dirty="0"/>
              <a:t>Inefficient capacity utilization</a:t>
            </a:r>
          </a:p>
          <a:p>
            <a:pPr lvl="1"/>
            <a:r>
              <a:rPr lang="en-GB" sz="1900" dirty="0"/>
              <a:t>Pricing strategy gaps</a:t>
            </a:r>
          </a:p>
          <a:p>
            <a:pPr lvl="1"/>
            <a:r>
              <a:rPr lang="en-GB" sz="1900" dirty="0"/>
              <a:t>Low weekday demand</a:t>
            </a:r>
          </a:p>
          <a:p>
            <a:pPr lvl="1"/>
            <a:r>
              <a:rPr lang="en-GB" sz="1900" dirty="0"/>
              <a:t>Over supply in some seasons</a:t>
            </a:r>
          </a:p>
          <a:p>
            <a:pPr marL="36576" indent="0">
              <a:buNone/>
            </a:pPr>
            <a:r>
              <a:rPr lang="en-GB" sz="2600" b="1" dirty="0"/>
              <a:t> Cancellation Rate: 25%</a:t>
            </a:r>
          </a:p>
          <a:p>
            <a:r>
              <a:rPr lang="en-GB" sz="2600" dirty="0"/>
              <a:t>1 out of every 4 bookings gets cancelled.</a:t>
            </a:r>
          </a:p>
          <a:p>
            <a:r>
              <a:rPr lang="en-GB" sz="2600" dirty="0"/>
              <a:t>This is significantly high.</a:t>
            </a:r>
          </a:p>
          <a:p>
            <a:r>
              <a:rPr lang="en-GB" sz="2600" dirty="0"/>
              <a:t>Impacts:</a:t>
            </a:r>
          </a:p>
          <a:p>
            <a:pPr lvl="1"/>
            <a:r>
              <a:rPr lang="en-GB" sz="1900" dirty="0"/>
              <a:t>revenue forecasting,</a:t>
            </a:r>
          </a:p>
          <a:p>
            <a:pPr lvl="1"/>
            <a:r>
              <a:rPr lang="en-GB" sz="1900" dirty="0"/>
              <a:t>staffing,</a:t>
            </a:r>
          </a:p>
          <a:p>
            <a:pPr lvl="1"/>
            <a:r>
              <a:rPr lang="en-GB" sz="1900" dirty="0"/>
              <a:t>inventory management,</a:t>
            </a:r>
          </a:p>
          <a:p>
            <a:pPr lvl="1"/>
            <a:r>
              <a:rPr lang="en-GB" sz="1900" dirty="0"/>
              <a:t>peak season yield.</a:t>
            </a:r>
          </a:p>
          <a:p>
            <a:pPr marL="36576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2866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Deep Business Insights (Overall)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7467600" cy="4708525"/>
          </a:xfrm>
        </p:spPr>
        <p:txBody>
          <a:bodyPr>
            <a:normAutofit fontScale="62500" lnSpcReduction="20000"/>
          </a:bodyPr>
          <a:lstStyle/>
          <a:p>
            <a:pPr marL="36576" indent="0">
              <a:buNone/>
            </a:pPr>
            <a:r>
              <a:rPr lang="en-IN" b="1" dirty="0"/>
              <a:t>Strengths:</a:t>
            </a:r>
          </a:p>
          <a:p>
            <a:r>
              <a:rPr lang="en-IN" dirty="0"/>
              <a:t>High premium class revenue (Elite + Premium = 60%)</a:t>
            </a:r>
          </a:p>
          <a:p>
            <a:r>
              <a:rPr lang="en-IN" dirty="0"/>
              <a:t>Strong weekday revenue</a:t>
            </a:r>
          </a:p>
          <a:p>
            <a:r>
              <a:rPr lang="en-IN" dirty="0"/>
              <a:t>Good performance in Mumbai &amp; Bangalore</a:t>
            </a:r>
          </a:p>
          <a:p>
            <a:r>
              <a:rPr lang="en-IN" dirty="0" err="1"/>
              <a:t>Atliq</a:t>
            </a:r>
            <a:r>
              <a:rPr lang="en-IN" dirty="0"/>
              <a:t> Exotica performing exceptionally well</a:t>
            </a:r>
          </a:p>
          <a:p>
            <a:pPr marL="36576" indent="0">
              <a:buNone/>
            </a:pPr>
            <a:r>
              <a:rPr lang="en-IN" b="1" dirty="0"/>
              <a:t>Weaknesses:</a:t>
            </a:r>
          </a:p>
          <a:p>
            <a:r>
              <a:rPr lang="en-IN" dirty="0"/>
              <a:t>Only 58% occupancy → lots of empty rooms</a:t>
            </a:r>
          </a:p>
          <a:p>
            <a:r>
              <a:rPr lang="en-IN" dirty="0"/>
              <a:t>25% cancellation rate → revenue leakage</a:t>
            </a:r>
          </a:p>
          <a:p>
            <a:r>
              <a:rPr lang="en-IN" dirty="0"/>
              <a:t>Delhi &amp; Seasons hotel underperforming</a:t>
            </a:r>
          </a:p>
          <a:p>
            <a:r>
              <a:rPr lang="en-IN" dirty="0"/>
              <a:t>No-show issue (5%) blocks inventory</a:t>
            </a:r>
          </a:p>
          <a:p>
            <a:pPr marL="36576" indent="0">
              <a:buNone/>
            </a:pPr>
            <a:r>
              <a:rPr lang="en-IN" b="1" dirty="0"/>
              <a:t>Opportunities:</a:t>
            </a:r>
          </a:p>
          <a:p>
            <a:r>
              <a:rPr lang="en-IN" dirty="0"/>
              <a:t>Dynamic pricing for weak months</a:t>
            </a:r>
          </a:p>
          <a:p>
            <a:r>
              <a:rPr lang="en-IN" dirty="0"/>
              <a:t>Reduce cancellations via policies</a:t>
            </a:r>
          </a:p>
          <a:p>
            <a:r>
              <a:rPr lang="en-IN" dirty="0"/>
              <a:t>Target corporate clients for weekday demand</a:t>
            </a:r>
          </a:p>
          <a:p>
            <a:r>
              <a:rPr lang="en-IN" dirty="0"/>
              <a:t>Push promotions for RT3 &amp; Standard rooms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0145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91AE5-FBE2-71F3-7E38-A1C390B84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Excel Dashboard</a:t>
            </a:r>
          </a:p>
        </p:txBody>
      </p:sp>
      <p:pic>
        <p:nvPicPr>
          <p:cNvPr id="5" name="Content Placeholder 4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6784FEE1-4F40-2325-A579-9D50D0535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26" y="1514167"/>
            <a:ext cx="9075174" cy="5220929"/>
          </a:xfrm>
        </p:spPr>
      </p:pic>
    </p:spTree>
    <p:extLst>
      <p:ext uri="{BB962C8B-B14F-4D97-AF65-F5344CB8AC3E}">
        <p14:creationId xmlns:p14="http://schemas.microsoft.com/office/powerpoint/2010/main" val="2845713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B49A3F-BCC3-063E-2823-B7349CC01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Tableau Dashboard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51055A4-5953-EDCC-B240-03701F7875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17638"/>
            <a:ext cx="9144000" cy="5440362"/>
          </a:xfrm>
        </p:spPr>
      </p:pic>
    </p:spTree>
    <p:extLst>
      <p:ext uri="{BB962C8B-B14F-4D97-AF65-F5344CB8AC3E}">
        <p14:creationId xmlns:p14="http://schemas.microsoft.com/office/powerpoint/2010/main" val="1996853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E41E7-A986-1B5F-4BE8-D70A1997F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16743"/>
          </a:xfrm>
        </p:spPr>
        <p:txBody>
          <a:bodyPr/>
          <a:lstStyle/>
          <a:p>
            <a:pPr algn="ctr"/>
            <a:r>
              <a:rPr lang="en-IN" dirty="0"/>
              <a:t>Power BI Dashboard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603B6C7-0073-9C7C-386F-97A34A567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094207-D320-2C54-A046-6532DDF40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638"/>
            <a:ext cx="9144000" cy="544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909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/>
              <a:t>Conclusion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319331" cy="3604189"/>
          </a:xfrm>
        </p:spPr>
        <p:txBody>
          <a:bodyPr>
            <a:normAutofit/>
          </a:bodyPr>
          <a:lstStyle/>
          <a:p>
            <a:r>
              <a:rPr lang="en-GB" sz="2000" dirty="0"/>
              <a:t>The dashboard shows strong revenue and booking performance but highlights challenges such as low occupancy and high cancellations. </a:t>
            </a:r>
          </a:p>
          <a:p>
            <a:r>
              <a:rPr lang="en-GB" sz="2000" dirty="0"/>
              <a:t>Premium categories and major cities perform well, while some hotels lag behind. </a:t>
            </a:r>
          </a:p>
          <a:p>
            <a:r>
              <a:rPr lang="en-GB" sz="2000" dirty="0"/>
              <a:t>Improving pricing, reducing cancellations, and optimizing capacity can significantly enhance overall business performance.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38844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B402C-7623-F805-6395-ED9C8BD9F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3949" y="5131456"/>
            <a:ext cx="7470648" cy="1143000"/>
          </a:xfrm>
        </p:spPr>
        <p:txBody>
          <a:bodyPr/>
          <a:lstStyle/>
          <a:p>
            <a:pPr algn="r"/>
            <a:r>
              <a:rPr lang="en-I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20090170"/>
      </p:ext>
    </p:extLst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245</TotalTime>
  <Words>879</Words>
  <Application>Microsoft Office PowerPoint</Application>
  <PresentationFormat>On-screen Show (4:3)</PresentationFormat>
  <Paragraphs>208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Franklin Gothic Book</vt:lpstr>
      <vt:lpstr>Wingdings 2</vt:lpstr>
      <vt:lpstr>Technic</vt:lpstr>
      <vt:lpstr>Hospitality Dashboard Analysis</vt:lpstr>
      <vt:lpstr>Agenda</vt:lpstr>
      <vt:lpstr>Introduction</vt:lpstr>
      <vt:lpstr>City-Wise Revenue Performance</vt:lpstr>
      <vt:lpstr>Trend Analysis (Monthly Revenue KPIs)</vt:lpstr>
      <vt:lpstr>Day Type Revenue (Weekend vs Weekday)</vt:lpstr>
      <vt:lpstr>Hotel-Wise Revenue </vt:lpstr>
      <vt:lpstr>Class-Wise Revenue Distribution</vt:lpstr>
      <vt:lpstr>Utilize Capacity (Room Category Analysis)</vt:lpstr>
      <vt:lpstr>Show Status (Guest Booking Outcome)</vt:lpstr>
      <vt:lpstr>Top-Level KPIs (Business Performance Summary)</vt:lpstr>
      <vt:lpstr>.</vt:lpstr>
      <vt:lpstr>Deep Business Insights (Overall)</vt:lpstr>
      <vt:lpstr>Excel Dashboard</vt:lpstr>
      <vt:lpstr>Tableau Dashboard</vt:lpstr>
      <vt:lpstr>Power BI Dashboard</vt:lpstr>
      <vt:lpstr>Conclusion</vt:lpstr>
      <vt:lpstr>Thank You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Hospitality Dashboard Analysis</dc:title>
  <dc:creator>Lenovo</dc:creator>
  <dc:description>generated using python-pptx</dc:description>
  <cp:lastModifiedBy>vishakha priya</cp:lastModifiedBy>
  <cp:revision>13</cp:revision>
  <dcterms:created xsi:type="dcterms:W3CDTF">2013-01-27T09:14:16Z</dcterms:created>
  <dcterms:modified xsi:type="dcterms:W3CDTF">2025-11-18T08:48:46Z</dcterms:modified>
</cp:coreProperties>
</file>